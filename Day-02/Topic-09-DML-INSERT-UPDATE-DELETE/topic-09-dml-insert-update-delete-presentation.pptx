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40680"/>
            <a:ext cx="12188952" cy="1417320"/>
          </a:xfrm>
          <a:prstGeom prst="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E9F3"/>
                </a:solidFill>
                <a:latin typeface="Calibri"/>
              </a:rPr>
              <a:t>NobleProg SQL100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CCFE5"/>
                </a:solidFill>
                <a:latin typeface="Calibri"/>
              </a:rPr>
              <a:t>Day 2 • Topic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 Light"/>
              </a:rPr>
              <a:t>DML — INSERT, UPDATE, DELETE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0E8F1"/>
                </a:solidFill>
                <a:latin typeface="Calibri"/>
              </a:rPr>
              <a:t>Detailed theory presentation with diagrams, worked examples, and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42432"/>
            <a:ext cx="5486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Topic 09 Dml Insert Update Delete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DML — INSERT, UPDATE, DELETE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2 • Topic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3E50"/>
                </a:solidFill>
                <a:latin typeface="Calibri"/>
              </a:rPr>
              <a:t>By the end of this topic, learners should be able 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6492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INSERT to add single and multiple rows safely.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UPDATE and DELETE with careful WHERE filtering.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Understand transaction safety with START TRANSACTION, COMMIT, and ROLLBACK.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Explain the difference between TRUNCATE and DELETE at a beginner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246120" cy="310896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0574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Assmang business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14600"/>
            <a:ext cx="2606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New hires.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Salary updates.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Removing bad training rows.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Undoing mistakes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Safe DML operating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Inspect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Run SELECT to confirm target rows.</a:t>
            </a:r>
          </a:p>
        </p:txBody>
      </p:sp>
      <p:sp>
        <p:nvSpPr>
          <p:cNvPr id="9" name="Chevron 8"/>
          <p:cNvSpPr/>
          <p:nvPr/>
        </p:nvSpPr>
        <p:spPr>
          <a:xfrm>
            <a:off x="2560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Begin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Open a transaction for risky changes.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1965960" cy="14173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Run INSERT, UPDATE, or DELETE.</a:t>
            </a:r>
          </a:p>
        </p:txBody>
      </p:sp>
      <p:sp>
        <p:nvSpPr>
          <p:cNvPr id="17" name="Chevron 16"/>
          <p:cNvSpPr/>
          <p:nvPr/>
        </p:nvSpPr>
        <p:spPr>
          <a:xfrm>
            <a:off x="7132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Check affected rows and totals.</a:t>
            </a:r>
          </a:p>
        </p:txBody>
      </p:sp>
      <p:sp>
        <p:nvSpPr>
          <p:cNvPr id="21" name="Chevron 20"/>
          <p:cNvSpPr/>
          <p:nvPr/>
        </p:nvSpPr>
        <p:spPr>
          <a:xfrm>
            <a:off x="9418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5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Commit / rollback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Save or undo the 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9717A"/>
                </a:solidFill>
                <a:latin typeface="Calibri"/>
              </a:rPr>
              <a:t>The safest SQL professionals treat data change as a process, not as a single command.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What DML is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`INSERT` adds new rows that did not previously exist.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`UPDATE` changes existing rows that already exist.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`DELETE` removes selected rows permanently from the table.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Because these commands alter live data, they require more discipline than SELECT.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This is the right place to remind learners that production systems often require approval and change controls.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INSERT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Start with one row, then show how SQL can add many rows efficiently.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INSERT INTO employees
    (first_name, last_name, job_title, department_id, salary_zar, hire_date, email)
VALUES
    ('Simphiwe', 'Dube', 'Safety Officer', 4, 47500.00, '2024-05-01', 'si.dube@assmang.co.za');
INSERT INTO employees (...) VALUES (...), (...), (...);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List columns explicitly so values cannot shift into the wrong positions.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Multiple-row INSERT is more efficient than many separate statements.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UPDATE with a safety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The safety SELECT is not optional in good teaching and good practice.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employee_id, first_name, salary_zar
FROM employees
WHERE employee_id = 2;
UPDATE employees
SET salary_zar = 43000.00,
    job_title = 'Senior HR Officer'
WHERE employee_id = 2;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WHERE clause defines the exact scope of the change.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Verifying first prevents accidental bulk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DELETE with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DELETE should be treated with the same discipline as UPDATE.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*
FROM training_register
WHERE register_id = 14;
DELETE FROM training_register
WHERE register_id = 14;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same WHERE clause appears in both the check and the delete.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This keeps the operator mentally aligned with the intended scope.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DELETE vs TRUNCATE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DELETE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TRUNCATE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Can remove selected rows with WHERE.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Works naturally with transactions.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More controlled for business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Removes all rows from the table.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No WHERE clause.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Treated as a much bigger structural action in practice.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9717A"/>
                </a:solidFill>
                <a:latin typeface="Calibri"/>
              </a:rPr>
              <a:t>For beginner safety training, DELETE is a precise tool; TRUNCATE is a reset-style tool and should be used with caution.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Why transactions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Open a protected change window.</a:t>
            </a:r>
          </a:p>
        </p:txBody>
      </p:sp>
      <p:sp>
        <p:nvSpPr>
          <p:cNvPr id="9" name="Chevron 8"/>
          <p:cNvSpPr/>
          <p:nvPr/>
        </p:nvSpPr>
        <p:spPr>
          <a:xfrm>
            <a:off x="2560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Modify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Run one or several DML statements.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1965960" cy="14173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Check whether the results look correct.</a:t>
            </a:r>
          </a:p>
        </p:txBody>
      </p:sp>
      <p:sp>
        <p:nvSpPr>
          <p:cNvPr id="17" name="Chevron 16"/>
          <p:cNvSpPr/>
          <p:nvPr/>
        </p:nvSpPr>
        <p:spPr>
          <a:xfrm>
            <a:off x="7132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Save changes permanently.</a:t>
            </a:r>
          </a:p>
        </p:txBody>
      </p:sp>
      <p:sp>
        <p:nvSpPr>
          <p:cNvPr id="21" name="Chevron 20"/>
          <p:cNvSpPr/>
          <p:nvPr/>
        </p:nvSpPr>
        <p:spPr>
          <a:xfrm>
            <a:off x="9418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5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ROLLBACK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Undo the pending changes if needed.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9717A"/>
                </a:solidFill>
                <a:latin typeface="Calibri"/>
              </a:rPr>
              <a:t>Transactions reduce fear and improve discipline because they encourage verification before final save.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Transaction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This pattern is ideal for salary adjustments and other high-impact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START TRANSACTION;
UPDATE employees
SET salary_zar = ROUND(salary_zar * 1.08, 2)
WHERE department_id = 2;
-- inspect the result here
COMMIT;
-- or ROLLBACK;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A transaction creates a deliberate review step.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COMMIT finalises; ROLLBACK reverses pending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DML — INSERT, UPDATE, DELETE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2 • Topic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Common mistakes to 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DML changes data, so safety and verification matter more than speed.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The safest habit is: SELECT first, then UPDATE or DELETE using the same WHERE logic.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Transactions create a controlled window in which mistakes can still be reversed.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Running UPDATE or DELETE without WHERE.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Changing data before verifying which rows will be affected.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Using TRUNCATE as though it were just a faster DELETE.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Questions, Discussion,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C0D0E3"/>
                </a:solidFill>
                <a:latin typeface="Calibri"/>
              </a:rPr>
              <a:t>DML — INSERT, UPDATE, DELETE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840480"/>
            <a:ext cx="6675120" cy="1005840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41148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Next step: practical lab, guided SQL examples, and discussion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89788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7E0EB"/>
                </a:solidFill>
                <a:latin typeface="Calibri"/>
              </a:rPr>
              <a:t>Assmang Pty Ltd | SQL100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