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40680"/>
            <a:ext cx="12188952" cy="1417320"/>
          </a:xfrm>
          <a:prstGeom prst="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1E9F3"/>
                </a:solidFill>
                <a:latin typeface="Calibri"/>
              </a:rPr>
              <a:t>NobleProg SQL100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BCCFE5"/>
                </a:solidFill>
                <a:latin typeface="Calibri"/>
              </a:rPr>
              <a:t>Day 2 • Topic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 Light"/>
              </a:rPr>
              <a:t>Subqueries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60520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0E8F1"/>
                </a:solidFill>
                <a:latin typeface="Calibri"/>
              </a:rPr>
              <a:t>Detailed theory presentation with diagrams, worked examples, and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42432"/>
            <a:ext cx="5486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Topic 08 Subqueries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Subqueries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43000"/>
            <a:ext cx="11247120" cy="4983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B3E50"/>
                </a:solidFill>
                <a:latin typeface="Calibri"/>
              </a:rPr>
              <a:t>By the end of this topic, learners should be able 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74519"/>
            <a:ext cx="6492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Explain what a subquery is and why it can be useful.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Use subqueries in WHERE, IN, EXISTS, FROM, and SELECT positions.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Recognise when a subquery is clearer than a join and when it is not.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Understand the basic idea of correlated subqueries.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828800"/>
            <a:ext cx="3246120" cy="310896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5740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Assmang business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14600"/>
            <a:ext cx="2606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Above-average earners.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Employees in selected departments.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Mines with or without production.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Derived summary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Mental model for subqueries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Inner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Find a value, set, or existence result.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Return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Pass that result outward.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Outer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Use the returned result to filter or display data.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Final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Return the rows the business actually asked for.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Subqueries are easiest to understand when treated as helper questions inside a bigger business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Single-value subquery in 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A scalar subquery returns one value used by the outer WHERE clause.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first_name, last_name, salary_zar
FROM employees
WHERE salary_zar &gt; (
    SELECT AVG(salary_zar)
    FROM employees
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inner query answers: what is the average salary?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outer query then asks: who is above that average?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`=` vs `IN` with subqueries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0352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Use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B3E50"/>
                </a:solidFill>
                <a:latin typeface="Calibri"/>
              </a:rPr>
              <a:t>Use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The subquery returns exactly one value.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Example: compare to a single average salary.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Good for scalar comparisons.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574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The subquery may return many values.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Example: all department_ids located in Johannesburg.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Good when matching against a result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717A"/>
                </a:solidFill>
                <a:latin typeface="Calibri"/>
              </a:rPr>
              <a:t>This distinction prevents one of the most common beginner runtime errors in subquery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Multi-row subquery with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IN works well when the inner query produces a list of acceptable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first_name, last_name, department_id
FROM employees
WHERE department_id IN (
    SELECT department_id
    FROM departments
    WHERE location LIKE '%Johannesburg%'
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departments table decides the valid ids.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employees table uses that returned set as a filter.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EXISTS and NOT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0664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`EXISTS` checks whether the inner query returns at least one row.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It is often the clearest way to ask ‘Does a related record exist?’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`NOT EXISTS` is the opposite: show rows for which the related record does not exist.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4D7199"/>
                </a:solidFill>
                <a:latin typeface="Calibri"/>
              </a:rPr>
              <a:t>These patterns are especially useful in audits, validation checks, and exception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417320"/>
            <a:ext cx="3246120" cy="448056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Trainer emphasis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148840"/>
            <a:ext cx="26974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This is a strong bridge between joins and data quality thinking.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EXISTS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This pattern asks about existence without needing to list fields from the inner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mine_name, mine_type
FROM mines m
WHERE EXISTS (
    SELECT 1
    FROM production_monthly p
    WHERE p.mine_id = m.mine_id
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`SELECT 1` is enough because the existence of rows matters, not their detailed values.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Subquery in FROM (derived table)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9717A"/>
                </a:solidFill>
                <a:latin typeface="Calibri"/>
              </a:rPr>
              <a:t>Sometimes the outer query needs to use a summary as though it were a temporary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7269480" cy="4526280"/>
          </a:xfrm>
          <a:prstGeom prst="roundRect">
            <a:avLst/>
          </a:prstGeom>
          <a:solidFill>
            <a:srgbClr val="F5F7F9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68122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15D3E"/>
                </a:solidFill>
                <a:latin typeface="Courier New"/>
              </a:rPr>
              <a:t>SELECT summary.department_id, summary.avg_salary
FROM (
    SELECT department_id, AVG(salary_zar) AS avg_salary
    FROM employees
    GROUP BY department_id
) AS summary
WHERE summary.avg_salary &gt; 60000;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17320"/>
            <a:ext cx="33375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B3E50"/>
                </a:solidFill>
                <a:latin typeface="Calibri"/>
              </a:rPr>
              <a:t>Why this example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4884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inner query builds a temporary summary table.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22B34"/>
                </a:solidFill>
                <a:latin typeface="Calibri"/>
              </a:rPr>
              <a:t>The outer query filters that derived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Correlated subquery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Outer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Pick one row from the outer query.</a:t>
            </a:r>
          </a:p>
        </p:txBody>
      </p:sp>
      <p:sp>
        <p:nvSpPr>
          <p:cNvPr id="9" name="Chevron 8"/>
          <p:cNvSpPr/>
          <p:nvPr/>
        </p:nvSpPr>
        <p:spPr>
          <a:xfrm>
            <a:off x="2560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965960" cy="1417320"/>
          </a:xfrm>
          <a:prstGeom prst="roundRect">
            <a:avLst/>
          </a:prstGeom>
          <a:solidFill>
            <a:srgbClr val="E2F0F3"/>
          </a:solidFill>
          <a:ln w="15240">
            <a:solidFill>
              <a:srgbClr val="5891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Inner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Run a subquery that refers back to that outer row.</a:t>
            </a:r>
          </a:p>
        </p:txBody>
      </p:sp>
      <p:sp>
        <p:nvSpPr>
          <p:cNvPr id="13" name="Chevron 12"/>
          <p:cNvSpPr/>
          <p:nvPr/>
        </p:nvSpPr>
        <p:spPr>
          <a:xfrm>
            <a:off x="4846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2011680"/>
            <a:ext cx="1965960" cy="1417320"/>
          </a:xfrm>
          <a:prstGeom prst="roundRect">
            <a:avLst/>
          </a:prstGeom>
          <a:solidFill>
            <a:srgbClr val="F7EED7"/>
          </a:solidFill>
          <a:ln w="15240">
            <a:solidFill>
              <a:srgbClr val="B58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Decide whether the row passes the rule.</a:t>
            </a:r>
          </a:p>
        </p:txBody>
      </p:sp>
      <p:sp>
        <p:nvSpPr>
          <p:cNvPr id="17" name="Chevron 16"/>
          <p:cNvSpPr/>
          <p:nvPr/>
        </p:nvSpPr>
        <p:spPr>
          <a:xfrm>
            <a:off x="7132320" y="2395728"/>
            <a:ext cx="210312" cy="502920"/>
          </a:xfrm>
          <a:prstGeom prst="chevron">
            <a:avLst/>
          </a:prstGeom>
          <a:solidFill>
            <a:srgbClr val="5E6D7E"/>
          </a:solidFill>
          <a:ln w="15240">
            <a:solidFill>
              <a:srgbClr val="5E6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40" y="2011680"/>
            <a:ext cx="1965960" cy="1417320"/>
          </a:xfrm>
          <a:prstGeom prst="roundRect">
            <a:avLst/>
          </a:prstGeom>
          <a:solidFill>
            <a:srgbClr val="DEE9F5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2121408"/>
            <a:ext cx="1819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B3E50"/>
                </a:solidFill>
                <a:latin typeface="Calibri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68880"/>
            <a:ext cx="174650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222B34"/>
                </a:solidFill>
                <a:latin typeface="Calibri"/>
              </a:rPr>
              <a:t>Do it again for every outer row.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9717A"/>
                </a:solidFill>
                <a:latin typeface="Calibri"/>
              </a:rPr>
              <a:t>A correlated subquery is evaluated per outer row, which is why it feels different from a one-time subquery.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B3E50"/>
          </a:solidFill>
          <a:ln w="15240">
            <a:solidFill>
              <a:srgbClr val="2B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Topic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Subqueries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09728"/>
            <a:ext cx="1965960" cy="420624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93808" y="173736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2 • Topic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solidFill>
            <a:srgbClr val="EDF1F5"/>
          </a:solidFill>
          <a:ln w="15240">
            <a:solidFill>
              <a:srgbClr val="ED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17A"/>
                </a:solidFill>
                <a:latin typeface="Calibri"/>
              </a:rPr>
              <a:t>Assmang Pty Ltd | SQL100 | Theory deck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9496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Key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B3E50"/>
                </a:solidFill>
                <a:latin typeface="Calibri"/>
              </a:rPr>
              <a:t>Common mistakes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A subquery is a query inside another query.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Subqueries are strong when the outer query depends on a lookup, existence test, or derived summary.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Choosing between a join and a subquery is often about readability and intent.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Using `=` when the subquery may return multiple rows.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Building a subquery when a simple join would be easier to explain.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22B34"/>
                </a:solidFill>
                <a:latin typeface="Calibri"/>
              </a:rPr>
              <a:t>Treating correlated subqueries as magic instead of row-by-row logic.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Questions, Discussion,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C0D0E3"/>
                </a:solidFill>
                <a:latin typeface="Calibri"/>
              </a:rPr>
              <a:t>Subqueries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840480"/>
            <a:ext cx="6675120" cy="1005840"/>
          </a:xfrm>
          <a:prstGeom prst="roundRect">
            <a:avLst/>
          </a:prstGeom>
          <a:solidFill>
            <a:srgbClr val="4D7199"/>
          </a:solidFill>
          <a:ln w="15240">
            <a:solidFill>
              <a:srgbClr val="4D7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41148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Next step: practical lab, guided SQL examples, and discussion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5897880"/>
            <a:ext cx="3108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D7E0EB"/>
                </a:solidFill>
                <a:latin typeface="Calibri"/>
              </a:rPr>
              <a:t>Assmang Pty Ltd | SQL100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