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E9F3"/>
                </a:solidFill>
                <a:latin typeface="Calibri"/>
              </a:rPr>
              <a:t>NobleProg SQL100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FE5"/>
                </a:solidFill>
                <a:latin typeface="Calibri"/>
              </a:rPr>
              <a:t>Day 2 • Topic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 Light"/>
              </a:rPr>
              <a:t>DDL — CREATE, ALTER, DROP and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0E8F1"/>
                </a:solidFill>
                <a:latin typeface="Calibri"/>
              </a:rPr>
              <a:t>Detailed theory presentation with diagrams, worked examples, and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42432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Topic 10 Ddl Create Alter Drop And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DDL — CREATE, ALTER, DROP and Best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 • Topic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3E50"/>
                </a:solidFill>
                <a:latin typeface="Calibri"/>
              </a:rPr>
              <a:t>By the end of this topic, learners should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Explain the purpose of CREATE TABLE, ALTER TABLE, DROP TABLE, indexes, and views.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Choose suitable beginner-level data types and constraints for relational tables.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Read a CREATE TABLE statement as a schema definition, not just as syntax.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Apply beginner SQL best practices for readability, safety, and maintainability.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246120" cy="31089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Assmang 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14600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New contractor tables.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Adding columns safely.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View-based reporting.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Repeatable schema scripts.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What DDL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DDL stands for Data Definition Language and focuses on structure rather than table contents.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With DDL, SQL defines tables, columns, constraints, indexes, and views.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 DDL script describes the shape of the system: what can be stored, what must be present, and how related tables connect.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Because structure changes affect many users, DDL should be planned and reviewed carefully.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Contrast this with DML: DML changes rows, DDL changes the container and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Common data types and why they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28600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17320"/>
            <a:ext cx="393192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27048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Best beginner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417320"/>
            <a:ext cx="466344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270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47672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039112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947672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2039112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Identifiers and whole-number counts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947672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5704" y="2039112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Clear numeric storage for ids and counters.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78024"/>
            <a:ext cx="228600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2569464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VARCHAR(n)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478024"/>
            <a:ext cx="393192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3784" y="2569464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Names, titles, emails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478024"/>
            <a:ext cx="466344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5704" y="2569464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Stores text efficiently without fixed-length waste.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08376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099816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DECIMAL(p,s)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008376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3784" y="3099816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Money and exact measured values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3008376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4" y="3099816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Avoids floating-point surprises in financial reporting.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38728"/>
            <a:ext cx="228600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3630168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538728"/>
            <a:ext cx="393192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43784" y="3630168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Hire dates, contract dates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538728"/>
            <a:ext cx="466344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75704" y="3630168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Lets SQL reason about time correctly.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069080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4160520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TINYINT(1)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4069080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3784" y="4160520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Boolean flags such as is_active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4069080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75704" y="4160520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Simple true/false style storage.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8932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17A"/>
                </a:solidFill>
                <a:latin typeface="Calibri"/>
              </a:rPr>
              <a:t>The key teaching point is not memorising types, but understanding what kind of value a column is meant to represent.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Reading a CREATE TABLE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A CREATE TABLE statement is a business rules document written in SQL 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CREATE TABLE contractors (
    contractor_id INT NOT NULL AUTO_INCREMENT,
    company_name VARCHAR(150) NOT NULL,
    contact_email VARCHAR(150) UNIQUE,
    mine_id INT,
    daily_rate_zar DECIMAL(10,2) NOT NULL DEFAULT 0.00,
    PRIMARY KEY (contractor_id),
    FOREIGN KEY (mine_id) REFERENCES mines(mine_id)
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table defines names, types, defaults, and relationship rules in one place.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Constraints protect the business from incomplete or inconsistent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Constraint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103120" cy="137160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74520"/>
            <a:ext cx="1956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NOT 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1828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Value must be supplied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Good for essential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783080"/>
            <a:ext cx="2103120" cy="137160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874520"/>
            <a:ext cx="1956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PRIMARY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21992"/>
            <a:ext cx="1828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Unique row identity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Cannot be duplicated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783080"/>
            <a:ext cx="2103120" cy="137160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874520"/>
            <a:ext cx="1956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UNIQUE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221992"/>
            <a:ext cx="1828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No repeated values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Useful for emails or codes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83080"/>
            <a:ext cx="2560320" cy="137160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1874520"/>
            <a:ext cx="2414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FOREIGN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21992"/>
            <a:ext cx="2286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Links to another table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B34"/>
                </a:solidFill>
                <a:latin typeface="Calibri"/>
              </a:rPr>
              <a:t>Protects referential integrity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57800" y="2468880.0"/>
            <a:ext cx="2743200" cy="0.0"/>
          </a:xfrm>
          <a:prstGeom prst="line">
            <a:avLst/>
          </a:prstGeom>
          <a:ln w="19050">
            <a:solidFill>
              <a:srgbClr val="A5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72200" y="22677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A54A4A"/>
                </a:solidFill>
                <a:latin typeface="Calibri"/>
              </a:rPr>
              <a:t>reference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789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0">
                <a:solidFill>
                  <a:srgbClr val="69717A"/>
                </a:solidFill>
                <a:latin typeface="Calibri"/>
              </a:rPr>
              <a:t>Constraints are business safeguards: they stop bad data from entering the system too easily.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ALTER TABLE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ALTER TABLE evolves the schema when requirements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ALTER TABLE contractors
ADD COLUMN phone_number VARCHAR(20);
ALTER TABLE contractors
RENAME COLUMN is_active TO active_status;
ALTER TABLE employees
MODIFY COLUMN email VARCHAR(200) NOT NULL;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ALTER changes existing structure rather than creating a new table.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Schema changes should be tested carefully because they affect later scripts and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Views and indexes: different purposes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A saved SELECT query that behaves like a virtual table.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Improves reuse and simplifies reporting access.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Good for safe presentation layers.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A structure that helps the database find rows faster.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Improves performance for searched or joined columns.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Does not change the visible result 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Views improve consumption; indexes improve retrieval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CREATE VIEW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Views are powerful for beginner reporting because they hide complexity behind a reusable name.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CREATE VIEW vw_employee_directory AS
SELECT
    e.employee_id,
    CONCAT(e.first_name, ' ', e.last_name) AS full_name,
    d.department_name
FROM employees e
INNER JOIN departments d ON e.department_id = d.department_id
WHERE e.is_active = 1;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 view does not copy data; it stores the query definition.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Business users can query the view without retyping the complex join every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SQL best practices to take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consistent formatting so a reader can scan the query structure quickly.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Choose explicit column lists over `SELECT *` in production-facing work.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Name objects clearly and keep naming conventions predictable.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Add IF EXISTS / IF NOT EXISTS where appropriate so scripts behave better when rerun.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comments for intent, not to excuse unclear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This is a strong closing slide before the overall course recap and final assessment.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DDL — CREATE, ALTER, DROP and Best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 • Topic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Common mistakes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DDL defines or changes structure, so its impact is broader than a single data change.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Data types and constraints protect data quality before bad rows even enter the table.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Readable SQL and safe change habits matter as much as syntax correctness.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Choosing vague or inappropriate data types.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Dropping or altering objects without understanding downstream impact.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Writing schema scripts that fail when rerun because IF EXISTS / IF NOT EXISTS was ignored.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Questions, Discussion,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C0D0E3"/>
                </a:solidFill>
                <a:latin typeface="Calibri"/>
              </a:rPr>
              <a:t>DDL — CREATE, ALTER, DROP and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005840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Next step: practical lab, guided SQL examples, and discussion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97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0EB"/>
                </a:solidFill>
                <a:latin typeface="Calibri"/>
              </a:rPr>
              <a:t>Assmang Pty Ltd | SQL100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