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40680"/>
            <a:ext cx="12188952" cy="1417320"/>
          </a:xfrm>
          <a:prstGeom prst="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E9F3"/>
                </a:solidFill>
                <a:latin typeface="Calibri"/>
              </a:rPr>
              <a:t>NobleProg SQL100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CCFE5"/>
                </a:solidFill>
                <a:latin typeface="Calibri"/>
              </a:rPr>
              <a:t>Day 1 • 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 Light"/>
              </a:rPr>
              <a:t>SELECT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0E8F1"/>
                </a:solidFill>
                <a:latin typeface="Calibri"/>
              </a:rPr>
              <a:t>Detailed theory presentation with diagrams, worked examples, and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42432"/>
            <a:ext cx="5486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Topic 02 Select Statements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SELECT Statements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1 • Topic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3E50"/>
                </a:solidFill>
                <a:latin typeface="Calibri"/>
              </a:rPr>
              <a:t>By the end of this topic, learners should be able 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6492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Read the structure of a basic SELECT query from top to bottom.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Select all columns or only the columns needed for a report.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aliases, DISTINCT, and expressions to shape output for business readers.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Recognise the difference between exploratory queries and production-ready queries.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246120" cy="310896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0574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Assmang business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514600"/>
            <a:ext cx="2606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HR list of staff names.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Finance payroll extracts.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Mine directory reports.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Ad-hoc operational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Anatomy of a SELECT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Choose columns or expressions to return.</a:t>
            </a:r>
          </a:p>
        </p:txBody>
      </p:sp>
      <p:sp>
        <p:nvSpPr>
          <p:cNvPr id="9" name="Chevron 8"/>
          <p:cNvSpPr/>
          <p:nvPr/>
        </p:nvSpPr>
        <p:spPr>
          <a:xfrm>
            <a:off x="2560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Choose the table that stores the data.</a:t>
            </a:r>
          </a:p>
        </p:txBody>
      </p:sp>
      <p:sp>
        <p:nvSpPr>
          <p:cNvPr id="13" name="Chevron 12"/>
          <p:cNvSpPr/>
          <p:nvPr/>
        </p:nvSpPr>
        <p:spPr>
          <a:xfrm>
            <a:off x="4846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1965960" cy="141732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Optional: filter rows before returning results.</a:t>
            </a:r>
          </a:p>
        </p:txBody>
      </p:sp>
      <p:sp>
        <p:nvSpPr>
          <p:cNvPr id="17" name="Chevron 16"/>
          <p:cNvSpPr/>
          <p:nvPr/>
        </p:nvSpPr>
        <p:spPr>
          <a:xfrm>
            <a:off x="7132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ORDER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Optional: sort the final result set.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9717A"/>
                </a:solidFill>
                <a:latin typeface="Calibri"/>
              </a:rPr>
              <a:t>Beginners should see SELECT as a sentence: choose data, say where it lives, optionally filter and sort.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Why column selection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06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`SELECT *` is useful for quick exploration and validation while learning.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In production reporting, named columns improve readability, performance, and change control.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A narrow query avoids exposing extra fields such as manager IDs or unnecessary salary fields.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Selecting only the needed columns also makes later formatting and joins easier to understand.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246120" cy="448056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Trainer emphasis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697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Tie this to governance: the least information necessary is often the safest 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Basic SELECT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Start from the simplest useful query patterns before introducing filters or joins.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 *
FROM employees;
SELECT first_name, last_name, job_title
FROM employees;
SELECT department_name, location
FROM departments;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second query is easier to read and more purposeful.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Learners should understand that output columns define what the audience sees.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Aliases make reports readable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Business users respond better to clean column headings than to database field names.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
    first_name  AS 'First Name',
    last_name   AS 'Surname',
    job_title   AS 'Position',
    salary_zar  AS 'Monthly Salary (R)'
FROM employees;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Aliases do not change table structure; they only change the display label.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Use aliases when technical column names would confuse the audience.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DISTINCT and duplicate thinking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06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A table can contain many repeated values for the same column, such as job_title or department_id.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`DISTINCT` asks SQL to return each unique value once.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This is useful for exploratory questions like ‘Which mine types exist?’ or ‘Which job titles are in the data?’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When multiple columns are used with DISTINCT, SQL returns unique combinations, not unique values per individual column.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246120" cy="448056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Trainer emphasis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697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Demonstrate how DISTINCT on one column differs from DISTINCT on two columns.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Useful SELECT building blocks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286000" cy="530352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417320"/>
            <a:ext cx="3931920" cy="530352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527048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SQL 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417320"/>
            <a:ext cx="4663440" cy="530352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2704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Typical beginner 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47672"/>
            <a:ext cx="2286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039112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All columns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947672"/>
            <a:ext cx="3931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3784" y="2039112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SELECT 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947672"/>
            <a:ext cx="46634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75704" y="2039112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Explore a table quickly after loading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78024"/>
            <a:ext cx="228600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2569464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Named columns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478024"/>
            <a:ext cx="393192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43784" y="2569464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SELECT col1, col2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2478024"/>
            <a:ext cx="466344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75704" y="2569464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Build a small, purposeful result set.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08376"/>
            <a:ext cx="2286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3099816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Alias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008376"/>
            <a:ext cx="3931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43784" y="3099816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AS readable_name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3008376"/>
            <a:ext cx="46634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5704" y="3099816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Present clearer headings in reports.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38728"/>
            <a:ext cx="228600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3630168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DISTINCT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3538728"/>
            <a:ext cx="393192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43784" y="3630168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SELECT DISTINCT col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3538728"/>
            <a:ext cx="4663440" cy="530352"/>
          </a:xfrm>
          <a:prstGeom prst="rect">
            <a:avLst/>
          </a:prstGeom>
          <a:solidFill>
            <a:srgbClr val="EDF1F5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75704" y="3630168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List unique values only once.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069080"/>
            <a:ext cx="228600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4160520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Expression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4069080"/>
            <a:ext cx="3931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43784" y="4160520"/>
            <a:ext cx="3822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salary_zar * 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4069080"/>
            <a:ext cx="466344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75704" y="4160520"/>
            <a:ext cx="4553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2B34"/>
                </a:solidFill>
                <a:latin typeface="Calibri"/>
              </a:rPr>
              <a:t>Add calculations without changing stored data.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98932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9717A"/>
                </a:solidFill>
                <a:latin typeface="Calibri"/>
              </a:rPr>
              <a:t>This slide works well as a reference screen before practical exercises.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Expressions in the SELECT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SQL can calculate values as part of the output without modifying stored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
    first_name,
    salary_zar AS monthly_salary,
    salary_zar * 12 AS annual_salary,
    ROUND(salary_zar / 22, 2) AS estimated_daily_rate
FROM employees;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Expressions are temporary output columns.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Stored salary values do not change unless UPDATE is used later.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Exploratory query vs report-ready 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Exploratory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Report-ready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Often uses SELECT *.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Used by analysts while learning or validating data loads.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Fast to write, but output can be cluttered.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Uses selected columns only.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Adds aliases and business-friendly headings.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Supports cleaner exports to Excel or dashboards.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9717A"/>
                </a:solidFill>
                <a:latin typeface="Calibri"/>
              </a:rPr>
              <a:t>A key beginner skill is knowing when to move from ‘quick check’ SQL to ‘presentation-quality’ SQL.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Small business-facing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A simple directory-style query is often more useful than a raw table dump.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
    CONCAT(first_name, ' ', last_name) AS employee_name,
    job_title,
    email
FROM employees;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This query already feels like a usable contact list.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It introduces expression output without requiring joins yet.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SELECT Statements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1 • Topic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Common mistakes to avoid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SELECT is about retrieving information, not changing it.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The best SELECT lists only the columns a reader actually needs.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Aliases, DISTINCT, and calculated columns make results easier to consume.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Using SELECT * in reports where only a few columns are needed.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Forgetting aliases and delivering unclear headings to business users.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Assuming DISTINCT means sorted; it removes duplicates but does not guarantee order.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Questions, Discussion,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C0D0E3"/>
                </a:solidFill>
                <a:latin typeface="Calibri"/>
              </a:rPr>
              <a:t>SELECT Statements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840480"/>
            <a:ext cx="6675120" cy="1005840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411480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Next step: practical lab, guided SQL examples, and discussion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89788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7E0EB"/>
                </a:solidFill>
                <a:latin typeface="Calibri"/>
              </a:rPr>
              <a:t>Assmang Pty Ltd | SQL100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