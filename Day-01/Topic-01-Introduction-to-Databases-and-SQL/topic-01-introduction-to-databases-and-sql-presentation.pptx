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88952" cy="1417320"/>
          </a:xfrm>
          <a:prstGeom prst="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E9F3"/>
                </a:solidFill>
                <a:latin typeface="Calibri"/>
              </a:rPr>
              <a:t>NobleProg SQL100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CCFE5"/>
                </a:solidFill>
                <a:latin typeface="Calibri"/>
              </a:rPr>
              <a:t>Day 1 • 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 Light"/>
              </a:rPr>
              <a:t>Introduction to Databases and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0E8F1"/>
                </a:solidFill>
                <a:latin typeface="Calibri"/>
              </a:rPr>
              <a:t>Detailed theory presentation with diagrams, worked examples, and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42432"/>
            <a:ext cx="5486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Topic 01 Introduction To Databases And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Introduction to Databases and 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1 • Topic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3E50"/>
                </a:solidFill>
                <a:latin typeface="Calibri"/>
              </a:rPr>
              <a:t>By the end of this topic, learners should be able 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6492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Explain what a database is and why organisations use a DBMS instead of spreadsheets alone.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Describe the difference between relational and non-relational storage models.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Recognise tables, rows, columns, keys, and relationships in a relational schema.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Explain what SQL is and identify DQL, DML, DDL, TCL, and DCL at a high level.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Connect the course theory to the Assmang training database and its business entities.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246120" cy="310896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0574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Assmang business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14600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HR needs employee records.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Operations need mine and equipment data.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Finance needs reliable reports.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Safety needs accurate audit trails.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Why databases exist in business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Mining organisations create large volumes of structured data every day: employees, production, maintenance, contractors, and training records.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A database keeps that information consistent, searchable, secure, and shareable across departments.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Compared with unmanaged spreadsheets, a DBMS reduces duplication, supports multiple users, and enforces rules.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For Assmang, this means one trusted source for operational reporting instead of many conflicting versions.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Use a real example: employee salary copied into two Excel files can drift apart.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Stress that data quality is a business issue, not only an IT issue.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Relational vs non-relational thinking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Relational databases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Non-relational databases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Data stored in tables with predefined columns.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Relationships are explicit through keys.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Strong fit for payroll, finance, compliance, and reporting.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SQL is the standard query language.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Data stored as documents, key-value pairs, graphs, or wide columns.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Schema can be more flexible and less rigid.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Strong fit for rapidly changing or highly unstructured data.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Often chosen for specialised workloads, not general reporting.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717A"/>
                </a:solidFill>
                <a:latin typeface="Calibri"/>
              </a:rPr>
              <a:t>For this course, the focus stays on relational SQL because the training data is structured and report-driven.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Core relational building blocks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011680" cy="16459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865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1737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A collection of related records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Example: employees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737360"/>
            <a:ext cx="2011680" cy="16459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828800"/>
            <a:ext cx="1865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Row /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76272"/>
            <a:ext cx="1737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One instance in the table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Example: one employee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737360"/>
            <a:ext cx="2011680" cy="16459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25312" y="1828800"/>
            <a:ext cx="1865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Column / 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176272"/>
            <a:ext cx="1737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A single attribute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Example: hire_date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737360"/>
            <a:ext cx="2194560" cy="16459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828800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176272"/>
            <a:ext cx="19202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Blueprint of all tables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Rules + structure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2560320.0"/>
            <a:ext cx="548640" cy="0.0"/>
          </a:xfrm>
          <a:prstGeom prst="line">
            <a:avLst/>
          </a:prstGeom>
          <a:ln w="19050">
            <a:solidFill>
              <a:srgbClr val="5E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60320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E6D7E"/>
                </a:solidFill>
                <a:latin typeface="Calibri"/>
              </a:rPr>
              <a:t>contains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03520" y="2560320.0"/>
            <a:ext cx="548640" cy="0.0"/>
          </a:xfrm>
          <a:prstGeom prst="line">
            <a:avLst/>
          </a:prstGeom>
          <a:ln w="19050">
            <a:solidFill>
              <a:srgbClr val="5E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20640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E6D7E"/>
                </a:solidFill>
                <a:latin typeface="Calibri"/>
              </a:rPr>
              <a:t>stores values 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63840" y="2560320.0"/>
            <a:ext cx="548640" cy="0.0"/>
          </a:xfrm>
          <a:prstGeom prst="line">
            <a:avLst/>
          </a:prstGeom>
          <a:ln w="19050">
            <a:solidFill>
              <a:srgbClr val="5E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80960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E6D7E"/>
                </a:solidFill>
                <a:latin typeface="Calibri"/>
              </a:rPr>
              <a:t>defined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89320"/>
            <a:ext cx="10789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0">
                <a:solidFill>
                  <a:srgbClr val="69717A"/>
                </a:solidFill>
                <a:latin typeface="Calibri"/>
              </a:rPr>
              <a:t>This vocabulary becomes the foundation for every later SQL statement and diagram.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Primary key and foreign key relationship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3657600" cy="23317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91640"/>
            <a:ext cx="35112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departments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39112"/>
            <a:ext cx="338328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department_id  ← primary key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department_name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location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budget_zar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417320"/>
            <a:ext cx="4206240" cy="283464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508760"/>
            <a:ext cx="4059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employees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856232"/>
            <a:ext cx="3931920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employee_id  ← primary key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first_name / last_name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department_id  ← foreign key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salary_zar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hire_date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2766060.0"/>
            <a:ext cx="1920240" cy="68580.0"/>
          </a:xfrm>
          <a:prstGeom prst="line">
            <a:avLst/>
          </a:prstGeom>
          <a:ln w="19050">
            <a:solidFill>
              <a:srgbClr val="A5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74920" y="256489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A54A4A"/>
                </a:solidFill>
                <a:latin typeface="Calibri"/>
              </a:rPr>
              <a:t>one department → many 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10789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0">
                <a:solidFill>
                  <a:srgbClr val="69717A"/>
                </a:solidFill>
                <a:latin typeface="Calibri"/>
              </a:rPr>
              <a:t>A foreign key does not replace the primary key; it points back to it so tables stay linked without repeating full department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Where SQL fits in the data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Data is recorded in tables with rules and types.</a:t>
            </a:r>
          </a:p>
        </p:txBody>
      </p:sp>
      <p:sp>
        <p:nvSpPr>
          <p:cNvPr id="9" name="Chevron 8"/>
          <p:cNvSpPr/>
          <p:nvPr/>
        </p:nvSpPr>
        <p:spPr>
          <a:xfrm>
            <a:off x="2560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SQL retrieves only the rows and columns needed.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96596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Analyse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Results become reports, dashboards, and decisions.</a:t>
            </a:r>
          </a:p>
        </p:txBody>
      </p:sp>
      <p:sp>
        <p:nvSpPr>
          <p:cNvPr id="17" name="Chevron 16"/>
          <p:cNvSpPr/>
          <p:nvPr/>
        </p:nvSpPr>
        <p:spPr>
          <a:xfrm>
            <a:off x="7132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Managers respond using trusted information.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9717A"/>
                </a:solidFill>
                <a:latin typeface="Calibri"/>
              </a:rPr>
              <a:t>SQL is valuable because it turns stored operational data into useful business answers.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SQL language families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28600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417320"/>
            <a:ext cx="393192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27048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Typical commands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417320"/>
            <a:ext cx="466344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270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What it means in 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47672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039112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DQL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947672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3784" y="2039112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SELECT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947672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5704" y="2039112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Ask questions of the data and return results.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78024"/>
            <a:ext cx="228600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2569464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DML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478024"/>
            <a:ext cx="393192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3784" y="2569464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INSERT, UPDATE, DELETE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478024"/>
            <a:ext cx="466344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5704" y="2569464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Add, change, or remove table rows.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08376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099816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DDL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008376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43784" y="3099816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CREATE, ALTER, DROP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3008376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5704" y="3099816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Define or change database structure.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38728"/>
            <a:ext cx="228600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3630168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TCL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3538728"/>
            <a:ext cx="393192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43784" y="3630168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COMMIT, ROLLBACK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3538728"/>
            <a:ext cx="466344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75704" y="3630168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Control whether changes are saved or undone.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069080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4160520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DCL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4069080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43784" y="4160520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GRANT, REVOKE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4069080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75704" y="4160520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Manage who may use what.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98932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17A"/>
                </a:solidFill>
                <a:latin typeface="Calibri"/>
              </a:rPr>
              <a:t>Beginners often learn SELECT first, but SQL becomes powerful when they understand where each command family belongs.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Assmang training schema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228600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08760"/>
            <a:ext cx="21396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departments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56232"/>
            <a:ext cx="2011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Business units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Budgets + locations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234440"/>
            <a:ext cx="2560320" cy="178308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67912" y="1325880"/>
            <a:ext cx="24140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employees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73352"/>
            <a:ext cx="228600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Staff records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Department + mine links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417320"/>
            <a:ext cx="228600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1508760"/>
            <a:ext cx="21396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mines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856232"/>
            <a:ext cx="2011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Operations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Commodity + province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703320"/>
            <a:ext cx="228600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2" y="3794760"/>
            <a:ext cx="21396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equipment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4142232"/>
            <a:ext cx="2011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Trucks, drills, loaders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Linked to mine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03320"/>
            <a:ext cx="256032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67912" y="3794760"/>
            <a:ext cx="24140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production_monthly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142232"/>
            <a:ext cx="22860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Tonnes, grade, revenue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Linked to mine and month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2125980.0"/>
            <a:ext cx="685800" cy="0.0"/>
          </a:xfrm>
          <a:prstGeom prst="line">
            <a:avLst/>
          </a:prstGeom>
          <a:ln w="19050">
            <a:solidFill>
              <a:srgbClr val="5E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94660" y="192481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E6D7E"/>
                </a:solidFill>
                <a:latin typeface="Calibri"/>
              </a:rPr>
              <a:t>department_id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55080" y="2125980.0"/>
            <a:ext cx="1005840" cy="0.0"/>
          </a:xfrm>
          <a:prstGeom prst="line">
            <a:avLst/>
          </a:prstGeom>
          <a:ln w="19050">
            <a:solidFill>
              <a:srgbClr val="5E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0" y="192481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E6D7E"/>
                </a:solidFill>
                <a:latin typeface="Calibri"/>
              </a:rPr>
              <a:t>mine_id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7360920" y="2125980.0"/>
            <a:ext cx="2286000" cy="2286000.0"/>
          </a:xfrm>
          <a:prstGeom prst="line">
            <a:avLst/>
          </a:prstGeom>
          <a:ln w="19050">
            <a:solidFill>
              <a:srgbClr val="5E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46720" y="192481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E6D7E"/>
                </a:solidFill>
                <a:latin typeface="Calibri"/>
              </a:rPr>
              <a:t>mine_id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355080" y="2125980.0"/>
            <a:ext cx="1005840" cy="2286000.0"/>
          </a:xfrm>
          <a:prstGeom prst="line">
            <a:avLst/>
          </a:prstGeom>
          <a:ln w="19050">
            <a:solidFill>
              <a:srgbClr val="5E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0" y="192481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E6D7E"/>
                </a:solidFill>
                <a:latin typeface="Calibri"/>
              </a:rPr>
              <a:t>mine_id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89320"/>
            <a:ext cx="10789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0">
                <a:solidFill>
                  <a:srgbClr val="69717A"/>
                </a:solidFill>
                <a:latin typeface="Calibri"/>
              </a:rPr>
              <a:t>Later topics use this same schema to show filtering, aggregation, joins, and updates in a realistic business setting.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First exploratory SQL statements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Early queries should build confidence by proving the learner can connect, inspect, and count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USE assmang_training;
SHOW TABLES;
DESCRIBE employees;
SELECT * FROM departments;
SELECT * FROM mines;
SELECT COUNT(*) AS total_employees FROM employees;
-- Expected training result: 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SHOW TABLES confirms the schema exists.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DESCRIBE teaches learners to inspect structure before querying.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COUNT(*) gives a fast validation check after data loads.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Introduction to Databases and 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1 • Topic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Common mistakes to 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A database is more than storage: it is structure, rules, relationships, and controlled access.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Relational systems are ideal when the business needs consistent reporting and trusted links between tables.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Primary keys identify; foreign keys connect; SQL is the language that works across the entire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Thinking a database is just a bigger spreadsheet with a nicer interface.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Confusing a row with a column, or a primary key with a foreign key.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Using SQL terms without understanding the business meaning behind the data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Questions, Discussion,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C0D0E3"/>
                </a:solidFill>
                <a:latin typeface="Calibri"/>
              </a:rPr>
              <a:t>Introduction to Databases and 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840480"/>
            <a:ext cx="6675120" cy="1005840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41148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Next step: practical lab, guided SQL examples, and discussion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9788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0EB"/>
                </a:solidFill>
                <a:latin typeface="Calibri"/>
              </a:rPr>
              <a:t>Assmang Pty Ltd | SQL100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